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4630400" cy="8229600"/>
  <p:notesSz cx="8229600" cy="14630400"/>
  <p:embeddedFontLst>
    <p:embeddedFont>
      <p:font typeface="Cooper Black" panose="0208090404030B020404" pitchFamily="18" charset="0"/>
      <p:regular r:id="rId14"/>
    </p:embeddedFont>
    <p:embeddedFont>
      <p:font typeface="Copperplate Gothic Bold" panose="020E0705020206020404" pitchFamily="34" charset="0"/>
      <p:regular r:id="rId15"/>
    </p:embeddedFont>
    <p:embeddedFont>
      <p:font typeface="Eras Bold ITC" panose="020B0907030504020204" pitchFamily="34" charset="0"/>
      <p:regular r:id="rId16"/>
    </p:embeddedFont>
    <p:embeddedFont>
      <p:font typeface="Fira Sans" panose="020B0503050000020004" pitchFamily="34" charset="0"/>
      <p:regular r:id="rId17"/>
      <p:bold r:id="rId18"/>
    </p:embeddedFont>
    <p:embeddedFont>
      <p:font typeface="Inconsolata Bold" pitchFamily="1" charset="0"/>
      <p:bold r:id="rId19"/>
    </p:embeddedFont>
  </p:embeddedFontLst>
  <p:defaultTextStyle>
    <a:defPPr>
      <a:defRPr lang="es-B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3D0"/>
    <a:srgbClr val="C37E57"/>
    <a:srgbClr val="F0A52C"/>
    <a:srgbClr val="F3B651"/>
    <a:srgbClr val="D98DDB"/>
    <a:srgbClr val="E2A5E3"/>
    <a:srgbClr val="EB701D"/>
    <a:srgbClr val="FFC55D"/>
    <a:srgbClr val="FFE2AF"/>
    <a:srgbClr val="FFD7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85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49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ison Montellanos" userId="e6baeaa7b199bff6" providerId="LiveId" clId="{855663C3-7DC4-41A5-ACD6-CCF8B42239F1}"/>
    <pc:docChg chg="undo custSel addSld delSld modSld">
      <pc:chgData name="Alison Montellanos" userId="e6baeaa7b199bff6" providerId="LiveId" clId="{855663C3-7DC4-41A5-ACD6-CCF8B42239F1}" dt="2026-06-02T09:09:07.376" v="904" actId="1076"/>
      <pc:docMkLst>
        <pc:docMk/>
      </pc:docMkLst>
      <pc:sldChg chg="modSp mod">
        <pc:chgData name="Alison Montellanos" userId="e6baeaa7b199bff6" providerId="LiveId" clId="{855663C3-7DC4-41A5-ACD6-CCF8B42239F1}" dt="2026-06-02T09:09:07.376" v="904" actId="1076"/>
        <pc:sldMkLst>
          <pc:docMk/>
          <pc:sldMk cId="0" sldId="256"/>
        </pc:sldMkLst>
        <pc:spChg chg="mod">
          <ac:chgData name="Alison Montellanos" userId="e6baeaa7b199bff6" providerId="LiveId" clId="{855663C3-7DC4-41A5-ACD6-CCF8B42239F1}" dt="2026-06-02T09:09:07.376" v="904" actId="1076"/>
          <ac:spMkLst>
            <pc:docMk/>
            <pc:sldMk cId="0" sldId="256"/>
            <ac:spMk id="9" creationId="{97A64D98-7377-EE4E-F80E-258A8AC7D3E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1812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0C1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41631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n 16">
            <a:extLst>
              <a:ext uri="{FF2B5EF4-FFF2-40B4-BE49-F238E27FC236}">
                <a16:creationId xmlns:a16="http://schemas.microsoft.com/office/drawing/2014/main" id="{2470CD5D-F508-E814-2F82-6E38FF97A4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346" b="4861"/>
          <a:stretch>
            <a:fillRect/>
          </a:stretch>
        </p:blipFill>
        <p:spPr>
          <a:xfrm>
            <a:off x="1" y="0"/>
            <a:ext cx="14630400" cy="8229600"/>
          </a:xfrm>
          <a:prstGeom prst="rect">
            <a:avLst/>
          </a:prstGeom>
        </p:spPr>
      </p:pic>
      <p:sp>
        <p:nvSpPr>
          <p:cNvPr id="22" name="Rectángulo 21">
            <a:extLst>
              <a:ext uri="{FF2B5EF4-FFF2-40B4-BE49-F238E27FC236}">
                <a16:creationId xmlns:a16="http://schemas.microsoft.com/office/drawing/2014/main" id="{94336577-DEC9-80CD-1EC7-5506F14BC835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7A64D98-7377-EE4E-F80E-258A8AC7D3E3}"/>
              </a:ext>
            </a:extLst>
          </p:cNvPr>
          <p:cNvSpPr txBox="1"/>
          <p:nvPr/>
        </p:nvSpPr>
        <p:spPr>
          <a:xfrm>
            <a:off x="4457700" y="487597"/>
            <a:ext cx="7353300" cy="4339650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rtlCol="0">
            <a:spAutoFit/>
          </a:bodyPr>
          <a:lstStyle/>
          <a:p>
            <a:pPr algn="r"/>
            <a:r>
              <a:rPr lang="es-ES" sz="13800" b="1" dirty="0">
                <a:solidFill>
                  <a:schemeClr val="bg1"/>
                </a:solidFill>
                <a:latin typeface="Eras Bold ITC" panose="020B0907030504020204" pitchFamily="34" charset="0"/>
                <a:ea typeface="Inconsolata Bold" pitchFamily="1" charset="0"/>
              </a:rPr>
              <a:t>SEA UN LIDER</a:t>
            </a:r>
            <a:endParaRPr lang="es-BO" sz="13800" b="1" dirty="0">
              <a:solidFill>
                <a:schemeClr val="bg1"/>
              </a:solidFill>
              <a:latin typeface="Eras Bold ITC" panose="020B0907030504020204" pitchFamily="34" charset="0"/>
              <a:ea typeface="Inconsolata Bold" pitchFamily="1" charset="0"/>
            </a:endParaRP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2048566-AEA7-3FE5-66A8-73DBAABC120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953500" y="3828989"/>
            <a:ext cx="5715001" cy="4858839"/>
          </a:xfrm>
          <a:prstGeom prst="rect">
            <a:avLst/>
          </a:prstGeom>
          <a:effectLst>
            <a:softEdge rad="635000"/>
          </a:effectLst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28C5AEAB-12B4-0E5A-E028-02BE118101C0}"/>
              </a:ext>
            </a:extLst>
          </p:cNvPr>
          <p:cNvSpPr txBox="1"/>
          <p:nvPr/>
        </p:nvSpPr>
        <p:spPr>
          <a:xfrm>
            <a:off x="9527042" y="4827247"/>
            <a:ext cx="4567916" cy="286232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CÓMO CAMBIAR A LOS DEMÁS SIN OFENDERLOS NI DESPERTAR RESENTIMIENTOS.</a:t>
            </a:r>
            <a:endParaRPr lang="en-US" sz="3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374396F0-CAEC-2DDA-A41B-874229CCA8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953" b="28937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FA80B27F-C697-D3A6-6828-CF54165A23E9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28" name="Rectángulo: esquinas superiores cortadas 27">
            <a:extLst>
              <a:ext uri="{FF2B5EF4-FFF2-40B4-BE49-F238E27FC236}">
                <a16:creationId xmlns:a16="http://schemas.microsoft.com/office/drawing/2014/main" id="{2ABA54C4-2882-D6BB-FB10-40535CECB7DA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FFC55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" name="Text 1"/>
          <p:cNvSpPr/>
          <p:nvPr/>
        </p:nvSpPr>
        <p:spPr>
          <a:xfrm>
            <a:off x="523101" y="1542038"/>
            <a:ext cx="13584197" cy="725805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Antes de señalar un área de mejora, cree un ambiente positivo. Un reconocimiento genuino no solo abre la mente de la otra persona, sino que también refuerza su autoestima y la predisposición a escuchar.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695450" y="2839887"/>
            <a:ext cx="3683913" cy="35433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Fundamentos de la conexión</a:t>
            </a:r>
            <a:endParaRPr lang="en-US" sz="28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695450" y="3330305"/>
            <a:ext cx="6858476" cy="108870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El elogio sincero es la piedra angular de cualquier conversación difícil. Demuestra que valora a la persona, no solo su rendimiento.</a:t>
            </a:r>
            <a:endParaRPr lang="en-US" sz="20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1695450" y="4912455"/>
            <a:ext cx="2835235" cy="35433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Construya confianza</a:t>
            </a:r>
            <a:endParaRPr lang="en-US" sz="28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1695450" y="5402873"/>
            <a:ext cx="6547009" cy="108870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Al iniciar con una nota positiva, establece una base de confianza que hace que la retroalimentación sea vista como una ayuda y no como un ataque.</a:t>
            </a:r>
            <a:endParaRPr lang="en-US" sz="20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3" name="Text 9"/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1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14" name="Text 10"/>
          <p:cNvSpPr/>
          <p:nvPr/>
        </p:nvSpPr>
        <p:spPr>
          <a:xfrm>
            <a:off x="3816549" y="7644823"/>
            <a:ext cx="4425910" cy="362903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EMPIECE CON ELOGIO Y APRECIO SINCERO.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A05A4125-3C68-1639-207B-F9DF64FAF80C}"/>
              </a:ext>
            </a:extLst>
          </p:cNvPr>
          <p:cNvSpPr txBox="1"/>
          <p:nvPr/>
        </p:nvSpPr>
        <p:spPr>
          <a:xfrm>
            <a:off x="2066925" y="305189"/>
            <a:ext cx="10496550" cy="107721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s-BO" sz="3200" b="1" dirty="0">
                <a:solidFill>
                  <a:schemeClr val="bg1"/>
                </a:solidFill>
                <a:latin typeface="Eras Bold ITC" panose="020B0907030504020204" pitchFamily="34" charset="0"/>
              </a:rPr>
              <a:t>SI TIENE USTED QUE ENCONTRAR DEFECTOS, ESTA ES LA MANERA DE</a:t>
            </a:r>
            <a:r>
              <a:rPr lang="es-BO" sz="3200" dirty="0">
                <a:solidFill>
                  <a:schemeClr val="bg1"/>
                </a:solidFill>
                <a:latin typeface="Eras Bold ITC" panose="020B0907030504020204" pitchFamily="34" charset="0"/>
              </a:rPr>
              <a:t> </a:t>
            </a:r>
            <a:r>
              <a:rPr lang="es-BO" sz="3200" b="1" dirty="0">
                <a:solidFill>
                  <a:schemeClr val="bg1"/>
                </a:solidFill>
                <a:latin typeface="Eras Bold ITC" panose="020B0907030504020204" pitchFamily="34" charset="0"/>
              </a:rPr>
              <a:t>EMPEZAR</a:t>
            </a:r>
            <a:endParaRPr lang="es-BO" sz="3200" dirty="0">
              <a:solidFill>
                <a:schemeClr val="bg1"/>
              </a:solidFill>
              <a:latin typeface="Eras Bold ITC" panose="020B0907030504020204" pitchFamily="34" charset="0"/>
            </a:endParaRP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379ED1D4-84B5-C0E8-22D6-4FE76F9B0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48993">
            <a:off x="9589623" y="2669922"/>
            <a:ext cx="4485064" cy="448506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32" name="Rectángulo 31">
            <a:extLst>
              <a:ext uri="{FF2B5EF4-FFF2-40B4-BE49-F238E27FC236}">
                <a16:creationId xmlns:a16="http://schemas.microsoft.com/office/drawing/2014/main" id="{6A7D8593-BBA2-6215-3B5B-BE7B3864AEEC}"/>
              </a:ext>
            </a:extLst>
          </p:cNvPr>
          <p:cNvSpPr/>
          <p:nvPr/>
        </p:nvSpPr>
        <p:spPr>
          <a:xfrm>
            <a:off x="1242923" y="4907905"/>
            <a:ext cx="152400" cy="1583676"/>
          </a:xfrm>
          <a:prstGeom prst="rect">
            <a:avLst/>
          </a:prstGeom>
          <a:solidFill>
            <a:srgbClr val="EB70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A7FE70FE-FD3A-73DD-E0D1-FE6FD342CDE8}"/>
              </a:ext>
            </a:extLst>
          </p:cNvPr>
          <p:cNvSpPr/>
          <p:nvPr/>
        </p:nvSpPr>
        <p:spPr>
          <a:xfrm>
            <a:off x="1242923" y="2839887"/>
            <a:ext cx="152400" cy="1583676"/>
          </a:xfrm>
          <a:prstGeom prst="rect">
            <a:avLst/>
          </a:prstGeom>
          <a:solidFill>
            <a:srgbClr val="EB701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24D8791F-87A4-8D9E-1F82-0118310D80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1" t="2730" r="2795" b="14856"/>
          <a:stretch>
            <a:fillRect/>
          </a:stretch>
        </p:blipFill>
        <p:spPr>
          <a:xfrm>
            <a:off x="0" y="2"/>
            <a:ext cx="14630400" cy="8229598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7C24538D-68DA-96C2-02A7-2468ADF2595F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" name="Text 1"/>
          <p:cNvSpPr/>
          <p:nvPr/>
        </p:nvSpPr>
        <p:spPr>
          <a:xfrm>
            <a:off x="5534526" y="1324067"/>
            <a:ext cx="8826129" cy="972503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La crítica directa a menudo hiere el ego y genera resistencia. En cambio, una sugerencia sutil invita a la autorreflexión y al cambio voluntario. </a:t>
            </a: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Critique el comportamiento, no a la persona.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34526" y="2636163"/>
            <a:ext cx="8826130" cy="1990963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Evite el "pero":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Reemplace "pero" por "y". Por ejemplo, "Bien hecho en matemáticas, y si sigues así, álgebra subirá igual". Esto mantiene el elogio sincero y sugiere mejora sin anular lo bueno.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Reconozca el esfuerzo: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La dueña de casa que elogió a los obreros por dejar el patio "lindo" después de que ella recogiera la basura, vio cómo ellos mismos limpiaron después, buscando su aprobación.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189245" y="5509053"/>
            <a:ext cx="3018830" cy="26967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EL EJEMPLO DE CHARLES SCHWAB</a:t>
            </a:r>
            <a:endParaRPr lang="en-US" sz="24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026695" y="5840254"/>
            <a:ext cx="12900522" cy="72937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Schwab encontró a empleados fumando bajo un cartel de "Prohibido fumar". En lugar de un regaño directo, dijo: "Les agradeceré mucho que fumen estos afuera", y les regaló cigarros. El resultado fue admiración, no enojo, y ellos mismos dejaron de fumar adentro.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4EA6CD07-D10A-CD2F-5DA4-3B94950C6FCC}"/>
              </a:ext>
            </a:extLst>
          </p:cNvPr>
          <p:cNvSpPr txBox="1"/>
          <p:nvPr/>
        </p:nvSpPr>
        <p:spPr>
          <a:xfrm>
            <a:off x="1791057" y="578534"/>
            <a:ext cx="11048286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CÓMO CRITICAR Y NO SER ODIADO POR ELLO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Rectángulo: esquinas superiores cortadas 18">
            <a:extLst>
              <a:ext uri="{FF2B5EF4-FFF2-40B4-BE49-F238E27FC236}">
                <a16:creationId xmlns:a16="http://schemas.microsoft.com/office/drawing/2014/main" id="{32184CD2-27A8-7898-35B9-DA7752ADF6CD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FFD7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E595E892-862E-8278-A3B8-7BB4DBC822E2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2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4268540" y="7333914"/>
            <a:ext cx="7510701" cy="243126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LLAME LA ATENCIÓN SOBRE LOS</a:t>
            </a:r>
          </a:p>
          <a:p>
            <a:pPr marL="0" indent="0" algn="ctr"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ERRORES DE LOS DEMÁS INDIRECTAMENTE.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10EB7D44-38A6-EA3D-B286-134437BCD57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887" t="4484" r="13887" b="7929"/>
          <a:stretch>
            <a:fillRect/>
          </a:stretch>
        </p:blipFill>
        <p:spPr>
          <a:xfrm>
            <a:off x="397454" y="1621005"/>
            <a:ext cx="4739618" cy="382652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n 25">
            <a:extLst>
              <a:ext uri="{FF2B5EF4-FFF2-40B4-BE49-F238E27FC236}">
                <a16:creationId xmlns:a16="http://schemas.microsoft.com/office/drawing/2014/main" id="{51F4EA45-1629-B0BC-4CAD-4DD238B1DD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32" b="17344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27" name="Rectángulo 26">
            <a:extLst>
              <a:ext uri="{FF2B5EF4-FFF2-40B4-BE49-F238E27FC236}">
                <a16:creationId xmlns:a16="http://schemas.microsoft.com/office/drawing/2014/main" id="{461C27AD-190A-5D2C-88B1-2B285DF677C5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0" name="Rectángulo: esquinas superiores cortadas 29">
            <a:extLst>
              <a:ext uri="{FF2B5EF4-FFF2-40B4-BE49-F238E27FC236}">
                <a16:creationId xmlns:a16="http://schemas.microsoft.com/office/drawing/2014/main" id="{298FD83C-37DC-5B28-C16F-E49C55497828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4" name="Text 1"/>
          <p:cNvSpPr/>
          <p:nvPr/>
        </p:nvSpPr>
        <p:spPr>
          <a:xfrm>
            <a:off x="1070567" y="1162424"/>
            <a:ext cx="12512083" cy="128699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La humildad es una herramienta poderosa. Al reconocer sus propios errores, crea un ambiente de confianza y empatía que facilita la aceptación de la crítica. Nadie es perfecto, y admitir nuestras imperfecciones nos humaniza.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2"/>
          <p:cNvSpPr/>
          <p:nvPr/>
        </p:nvSpPr>
        <p:spPr>
          <a:xfrm>
            <a:off x="1082309" y="2478310"/>
            <a:ext cx="2551748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b="1" dirty="0">
                <a:solidFill>
                  <a:schemeClr val="bg1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Genera confianza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7" name="Text 3"/>
          <p:cNvSpPr/>
          <p:nvPr/>
        </p:nvSpPr>
        <p:spPr>
          <a:xfrm>
            <a:off x="1082309" y="2907292"/>
            <a:ext cx="7306628" cy="796206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Cuando mostramos vulnerabilidad, la otra persona se siente menos amenazada y más dispuesta a escuchar.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9" name="Text 4"/>
          <p:cNvSpPr/>
          <p:nvPr/>
        </p:nvSpPr>
        <p:spPr>
          <a:xfrm>
            <a:off x="1082310" y="3953080"/>
            <a:ext cx="4235980" cy="37120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b="1" dirty="0">
                <a:solidFill>
                  <a:schemeClr val="bg1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Fomenta la receptividad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1082309" y="4382062"/>
            <a:ext cx="7693461" cy="665656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La crítica es mejor recibida cuando proviene de alguien que también reconoce sus propias imperfecciones.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2" name="Text 6"/>
          <p:cNvSpPr/>
          <p:nvPr/>
        </p:nvSpPr>
        <p:spPr>
          <a:xfrm>
            <a:off x="1082309" y="5351196"/>
            <a:ext cx="3140692" cy="42898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800" b="1" dirty="0">
                <a:solidFill>
                  <a:schemeClr val="bg1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Motiva el cambio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13" name="Text 7"/>
          <p:cNvSpPr/>
          <p:nvPr/>
        </p:nvSpPr>
        <p:spPr>
          <a:xfrm>
            <a:off x="1082309" y="5780178"/>
            <a:ext cx="7306628" cy="62055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Admitir los propios errores, incluso si no se han corregido, puede inspirar a otros a cambiar su conducta.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6" name="Text 10"/>
          <p:cNvSpPr/>
          <p:nvPr/>
        </p:nvSpPr>
        <p:spPr>
          <a:xfrm>
            <a:off x="3816309" y="7487238"/>
            <a:ext cx="8122086" cy="74236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HABLE DE SUS PROPIOS ERRORES</a:t>
            </a:r>
          </a:p>
          <a:p>
            <a:pPr marL="0" indent="0" algn="ctr">
              <a:lnSpc>
                <a:spcPts val="24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ANTES DE CRITICAR LOS DE LOS DEMÁS.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9F01AD9-C2D1-C14C-09E4-9E0B7958A42C}"/>
              </a:ext>
            </a:extLst>
          </p:cNvPr>
          <p:cNvSpPr txBox="1"/>
          <p:nvPr/>
        </p:nvSpPr>
        <p:spPr>
          <a:xfrm>
            <a:off x="2192833" y="314454"/>
            <a:ext cx="9592985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HABLE PRIMERO DE SUS PROPIOS ERRORES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0925A976-6CA5-7A2B-6BF5-7AF66DF1E9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945" t="11346" r="8179" b="11805"/>
          <a:stretch>
            <a:fillRect/>
          </a:stretch>
        </p:blipFill>
        <p:spPr>
          <a:xfrm rot="427961">
            <a:off x="9168587" y="2215578"/>
            <a:ext cx="5337328" cy="4832552"/>
          </a:xfrm>
          <a:prstGeom prst="rect">
            <a:avLst/>
          </a:prstGeom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</p:spPr>
      </p:pic>
      <p:sp>
        <p:nvSpPr>
          <p:cNvPr id="31" name="Text 9">
            <a:extLst>
              <a:ext uri="{FF2B5EF4-FFF2-40B4-BE49-F238E27FC236}">
                <a16:creationId xmlns:a16="http://schemas.microsoft.com/office/drawing/2014/main" id="{8CC7E961-23AB-E8D9-5900-F30CBCD0986F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3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n 19">
            <a:extLst>
              <a:ext uri="{FF2B5EF4-FFF2-40B4-BE49-F238E27FC236}">
                <a16:creationId xmlns:a16="http://schemas.microsoft.com/office/drawing/2014/main" id="{CBA4B977-4260-25BB-A75B-3E669AF4AA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353" b="5272"/>
          <a:stretch>
            <a:fillRect/>
          </a:stretch>
        </p:blipFill>
        <p:spPr>
          <a:xfrm>
            <a:off x="-1" y="0"/>
            <a:ext cx="14630400" cy="822960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F58900AD-7248-F228-A9C3-45597B34884A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8FB471A-2DE7-0771-98F9-AD1F36394CA5}"/>
              </a:ext>
            </a:extLst>
          </p:cNvPr>
          <p:cNvSpPr txBox="1"/>
          <p:nvPr/>
        </p:nvSpPr>
        <p:spPr>
          <a:xfrm>
            <a:off x="2705099" y="464729"/>
            <a:ext cx="9220200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NADIE LE AGRADA RECIBIR ORDENES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2D7B7C9-D26B-478F-EA50-EEC00B0F8E99}"/>
              </a:ext>
            </a:extLst>
          </p:cNvPr>
          <p:cNvSpPr txBox="1"/>
          <p:nvPr/>
        </p:nvSpPr>
        <p:spPr>
          <a:xfrm>
            <a:off x="361995" y="1266543"/>
            <a:ext cx="13940436" cy="1107996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r>
              <a:rPr lang="es-BO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</a:rPr>
              <a:t>“Muchas veces creemos que para que las cosas se hagan bien, debemos dar órdenes directas. Pero la verdad es que a nadie le agrada recibir órdenes. Cuando imponemos algo, lo único que logramos muchas veces es generar molestia, resistencia o resentimiento.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D5B9FF8-B0A4-902A-B22A-2283476397EB}"/>
              </a:ext>
            </a:extLst>
          </p:cNvPr>
          <p:cNvSpPr txBox="1"/>
          <p:nvPr/>
        </p:nvSpPr>
        <p:spPr>
          <a:xfrm>
            <a:off x="361994" y="2125474"/>
            <a:ext cx="10096455" cy="2123658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endParaRPr lang="es-BO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r>
              <a:rPr lang="es-BO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</a:rPr>
              <a:t>En cambio, cuando hacemos preguntas como: ‘¿Qué opinas?’, ‘¿Cómo crees que podríamos hacerlo mejor?’, o ‘¿Te parece bien si lo intentamos así?’, la otra persona se siente tomada en cuenta. Se siente importante. Y cuando alguien se siente valorado, coopera con más disposición.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90A7B4A-39D1-ADC2-58F1-A0325071FD6C}"/>
              </a:ext>
            </a:extLst>
          </p:cNvPr>
          <p:cNvSpPr txBox="1"/>
          <p:nvPr/>
        </p:nvSpPr>
        <p:spPr>
          <a:xfrm>
            <a:off x="361995" y="4345486"/>
            <a:ext cx="9050967" cy="1446550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r>
              <a:rPr lang="es-BO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</a:rPr>
              <a:t>Dar órdenes puede funcionar a corto plazo, pero hacer preguntas construye respeto, confianza y trabajo en equipo. Además, las preguntas fomentan la creatividad, porque permiten que los demás aporten ideas y soluciones.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3F13B6CF-2773-8088-1A19-B18212082570}"/>
              </a:ext>
            </a:extLst>
          </p:cNvPr>
          <p:cNvSpPr txBox="1"/>
          <p:nvPr/>
        </p:nvSpPr>
        <p:spPr>
          <a:xfrm>
            <a:off x="361995" y="5850905"/>
            <a:ext cx="8665667" cy="1107996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r>
              <a:rPr lang="es-BO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</a:rPr>
              <a:t>Por eso, un buen líder no impone, sino que guía. No obliga, sino que sugiere. Y en lugar de decir ‘hazlo’, pregunta ‘¿cómo podemos hacerlo mejor?’.”</a:t>
            </a:r>
          </a:p>
        </p:txBody>
      </p:sp>
      <p:sp>
        <p:nvSpPr>
          <p:cNvPr id="28" name="Rectángulo: esquinas superiores cortadas 27">
            <a:extLst>
              <a:ext uri="{FF2B5EF4-FFF2-40B4-BE49-F238E27FC236}">
                <a16:creationId xmlns:a16="http://schemas.microsoft.com/office/drawing/2014/main" id="{F1B09CE0-8ADA-FB4D-9772-D313A0BF5956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6FAA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278C0169-A191-0851-55D4-5953DDD148FB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4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6B0E5939-7D4E-414B-1289-D8577390852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153" r="16084"/>
          <a:stretch>
            <a:fillRect/>
          </a:stretch>
        </p:blipFill>
        <p:spPr>
          <a:xfrm>
            <a:off x="9454306" y="1818053"/>
            <a:ext cx="5378179" cy="553623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 5"/>
          <p:cNvSpPr/>
          <p:nvPr/>
        </p:nvSpPr>
        <p:spPr>
          <a:xfrm>
            <a:off x="5920250" y="7796589"/>
            <a:ext cx="4195525" cy="37492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HAGA PREGUNTAS EN VEZ DE DAR ÓRDENES.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agen 40">
            <a:extLst>
              <a:ext uri="{FF2B5EF4-FFF2-40B4-BE49-F238E27FC236}">
                <a16:creationId xmlns:a16="http://schemas.microsoft.com/office/drawing/2014/main" id="{026EB8FD-0C1E-4300-4804-E0FE544A33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5"/>
          <a:stretch>
            <a:fillRect/>
          </a:stretch>
        </p:blipFill>
        <p:spPr>
          <a:xfrm>
            <a:off x="7210" y="0"/>
            <a:ext cx="14630400" cy="8229600"/>
          </a:xfrm>
          <a:prstGeom prst="rect">
            <a:avLst/>
          </a:prstGeom>
        </p:spPr>
      </p:pic>
      <p:sp>
        <p:nvSpPr>
          <p:cNvPr id="42" name="Rectángulo 41">
            <a:extLst>
              <a:ext uri="{FF2B5EF4-FFF2-40B4-BE49-F238E27FC236}">
                <a16:creationId xmlns:a16="http://schemas.microsoft.com/office/drawing/2014/main" id="{4ADACC36-201B-C19B-940D-AF0390DD9FD8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11" name="Text 6"/>
          <p:cNvSpPr/>
          <p:nvPr/>
        </p:nvSpPr>
        <p:spPr>
          <a:xfrm>
            <a:off x="5105279" y="1189187"/>
            <a:ext cx="4434262" cy="411942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3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Caso Charles Steinmetz</a:t>
            </a:r>
            <a:endParaRPr lang="en-US" sz="3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365397" y="1576538"/>
            <a:ext cx="13453678" cy="54437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GE lo mantuvo como "Ingeniero Consultor" sin quitarle el trabajo, demostrando cómo valorar el talento sin humillar.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097" y="1179662"/>
            <a:ext cx="492249" cy="3549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533937" y="2508289"/>
            <a:ext cx="4434413" cy="43558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3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Marshall A. Granger</a:t>
            </a:r>
            <a:endParaRPr lang="en-US" sz="3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3880896" y="2914694"/>
            <a:ext cx="10248900" cy="684276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Cambió despidos temporales por reconocimiento, logrando que los empleados se fueran con una actitud positiva y dispuestos a regresar.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9730" y="3224278"/>
            <a:ext cx="492248" cy="397695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8751144" y="3985390"/>
            <a:ext cx="2113957" cy="33745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3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Fred Clark</a:t>
            </a:r>
            <a:endParaRPr lang="en-US" sz="3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24" name="Text 15"/>
          <p:cNvSpPr/>
          <p:nvPr/>
        </p:nvSpPr>
        <p:spPr>
          <a:xfrm>
            <a:off x="5339428" y="4355442"/>
            <a:ext cx="8937390" cy="102311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Un vicepresidente atacó a un supervisor, destruyendo su motivación y haciendo que se fuera a la competencia. Un ejemplo de lo que hay que evitar.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8603" y="3366441"/>
            <a:ext cx="469575" cy="379095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28896" y="5671750"/>
            <a:ext cx="4152900" cy="43558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sz="3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Anna Mazzone</a:t>
            </a:r>
            <a:endParaRPr lang="en-US" sz="3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30" name="Text 19"/>
          <p:cNvSpPr/>
          <p:nvPr/>
        </p:nvSpPr>
        <p:spPr>
          <a:xfrm>
            <a:off x="4673115" y="6081290"/>
            <a:ext cx="10040695" cy="435588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Su jefe la defendió de un error, atribuyéndolo a la falta de experiencia, motivándola a dar lo mejor de sí.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3A2F43CF-75B8-6AE8-9798-D62A49EBC9FE}"/>
              </a:ext>
            </a:extLst>
          </p:cNvPr>
          <p:cNvSpPr txBox="1"/>
          <p:nvPr/>
        </p:nvSpPr>
        <p:spPr>
          <a:xfrm>
            <a:off x="1184809" y="442670"/>
            <a:ext cx="12247159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PERMITA QUE LA OTRA PERSONA SALVE SU PRESTIGIO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Rectángulo: esquinas superiores cortadas 43">
            <a:extLst>
              <a:ext uri="{FF2B5EF4-FFF2-40B4-BE49-F238E27FC236}">
                <a16:creationId xmlns:a16="http://schemas.microsoft.com/office/drawing/2014/main" id="{2B0C7B31-2866-ABC4-4B63-BDDF998E7A41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8282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45" name="Text 9">
            <a:extLst>
              <a:ext uri="{FF2B5EF4-FFF2-40B4-BE49-F238E27FC236}">
                <a16:creationId xmlns:a16="http://schemas.microsoft.com/office/drawing/2014/main" id="{2991FAB2-B9A3-EA74-21DD-7DFF8DF99327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5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33" name="Text 22"/>
          <p:cNvSpPr/>
          <p:nvPr/>
        </p:nvSpPr>
        <p:spPr>
          <a:xfrm>
            <a:off x="5035060" y="7353240"/>
            <a:ext cx="6302097" cy="424611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PERMITA QUE LA OTRA PERSONA</a:t>
            </a:r>
          </a:p>
          <a:p>
            <a:pPr marL="0" indent="0" algn="ctr"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SALVE SU PROPIO PRESTIGIO.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43" name="Imagen 42">
            <a:extLst>
              <a:ext uri="{FF2B5EF4-FFF2-40B4-BE49-F238E27FC236}">
                <a16:creationId xmlns:a16="http://schemas.microsoft.com/office/drawing/2014/main" id="{3735CA89-4FFD-1E33-82B4-4EBC9E92541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28" t="5308" r="18667"/>
          <a:stretch>
            <a:fillRect/>
          </a:stretch>
        </p:blipFill>
        <p:spPr>
          <a:xfrm>
            <a:off x="130494" y="3224278"/>
            <a:ext cx="4848143" cy="4017551"/>
          </a:xfrm>
          <a:prstGeom prst="rect">
            <a:avLst/>
          </a:prstGeom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>
              <a:rot lat="300000" lon="19800000" rev="0"/>
            </a:camera>
            <a:lightRig rig="threePt" dir="t">
              <a:rot lat="0" lon="0" rev="2700000"/>
            </a:lightRig>
          </a:scene3d>
          <a:sp3d>
            <a:bevelT w="63500" h="50800"/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n 18">
            <a:extLst>
              <a:ext uri="{FF2B5EF4-FFF2-40B4-BE49-F238E27FC236}">
                <a16:creationId xmlns:a16="http://schemas.microsoft.com/office/drawing/2014/main" id="{B7056521-9C8E-08F4-F616-CED59E40E3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35" b="10137"/>
          <a:stretch>
            <a:fillRect/>
          </a:stretch>
        </p:blipFill>
        <p:spPr>
          <a:xfrm>
            <a:off x="0" y="955"/>
            <a:ext cx="14630400" cy="8227570"/>
          </a:xfrm>
          <a:prstGeom prst="rect">
            <a:avLst/>
          </a:prstGeom>
        </p:spPr>
      </p:pic>
      <p:sp>
        <p:nvSpPr>
          <p:cNvPr id="23" name="Rectángulo 22">
            <a:extLst>
              <a:ext uri="{FF2B5EF4-FFF2-40B4-BE49-F238E27FC236}">
                <a16:creationId xmlns:a16="http://schemas.microsoft.com/office/drawing/2014/main" id="{1032C4C6-A4F6-6B63-3C91-8F89FE681E21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" name="Text 1"/>
          <p:cNvSpPr/>
          <p:nvPr/>
        </p:nvSpPr>
        <p:spPr>
          <a:xfrm>
            <a:off x="793789" y="1193064"/>
            <a:ext cx="13042821" cy="62055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El refuerzo positivo es un motor poderoso para el cambio y el crecimiento. Reconocer y celebrar cada avance, por mínimo que sea, construye la confianza y motiva a seguir adelante. Sea "caluroso en su aprobación y generoso en sus elogios".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391781" y="2554289"/>
            <a:ext cx="2551748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PEQUEÑOS LOGROS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391781" y="2983272"/>
            <a:ext cx="7499152" cy="31027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Cada paso cuenta. Reconozca el esfuerzo y el </a:t>
            </a:r>
            <a:r>
              <a:rPr lang="en-US" sz="2200" dirty="0" err="1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progreso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,</a:t>
            </a:r>
          </a:p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no solo el resultado final.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1289743" y="3763831"/>
            <a:ext cx="7831217" cy="49878"/>
          </a:xfrm>
          <a:prstGeom prst="roundRect">
            <a:avLst>
              <a:gd name="adj" fmla="val 267907"/>
            </a:avLst>
          </a:prstGeom>
          <a:solidFill>
            <a:srgbClr val="003A53"/>
          </a:solidFill>
          <a:ln/>
        </p:spPr>
      </p:sp>
      <p:sp>
        <p:nvSpPr>
          <p:cNvPr id="11" name="Text 7"/>
          <p:cNvSpPr/>
          <p:nvPr/>
        </p:nvSpPr>
        <p:spPr>
          <a:xfrm>
            <a:off x="1391781" y="3913380"/>
            <a:ext cx="2551748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MOTIVACIÓN CONTINUA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2" name="Text 8"/>
          <p:cNvSpPr/>
          <p:nvPr/>
        </p:nvSpPr>
        <p:spPr>
          <a:xfrm>
            <a:off x="1391781" y="4342363"/>
            <a:ext cx="7977676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El elogio frecuente mantiene viva la llama del </a:t>
            </a:r>
          </a:p>
          <a:p>
            <a:pPr marL="0" indent="0" algn="l">
              <a:lnSpc>
                <a:spcPts val="2400"/>
              </a:lnSpc>
              <a:buNone/>
            </a:pPr>
            <a:r>
              <a:rPr lang="en-US" sz="2200" dirty="0" err="1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entusiasmo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y el deseo de mejorar.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1391781" y="5234586"/>
            <a:ext cx="2551748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CONSTRUYE CONFIANZA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1391781" y="5663568"/>
            <a:ext cx="7729180" cy="62055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Cuando las personas se sienten valoradas, se atreven a asumir nuevos retos y a salir de su zona de confort.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AF7910D8-A310-3C68-4337-957733EC0D41}"/>
              </a:ext>
            </a:extLst>
          </p:cNvPr>
          <p:cNvSpPr txBox="1"/>
          <p:nvPr/>
        </p:nvSpPr>
        <p:spPr>
          <a:xfrm>
            <a:off x="560468" y="392460"/>
            <a:ext cx="12721389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CÓMO ESTIMULAR A LAS PERSONAS HACIA EL TRIUNFO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Rectángulo: esquinas superiores cortadas 24">
            <a:extLst>
              <a:ext uri="{FF2B5EF4-FFF2-40B4-BE49-F238E27FC236}">
                <a16:creationId xmlns:a16="http://schemas.microsoft.com/office/drawing/2014/main" id="{61AF5F59-40B9-A6B5-6EDB-26E1187B74D6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0039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26" name="Text 9">
            <a:extLst>
              <a:ext uri="{FF2B5EF4-FFF2-40B4-BE49-F238E27FC236}">
                <a16:creationId xmlns:a16="http://schemas.microsoft.com/office/drawing/2014/main" id="{7F33CAAA-4134-9295-76EE-A93025255B62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6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5141357" y="7477183"/>
            <a:ext cx="5759410" cy="41183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ELOGIE EL MÁS PEQUEÑO PROGRESO</a:t>
            </a:r>
          </a:p>
          <a:p>
            <a:pPr marL="0" indent="0" algn="ctr">
              <a:lnSpc>
                <a:spcPts val="24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Y, ADEMÁS, CADA PROGRESO.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C301E686-CE14-E34D-0349-65C754B1DBD4}"/>
              </a:ext>
            </a:extLst>
          </p:cNvPr>
          <p:cNvSpPr/>
          <p:nvPr/>
        </p:nvSpPr>
        <p:spPr>
          <a:xfrm>
            <a:off x="1289742" y="5085036"/>
            <a:ext cx="7831217" cy="49878"/>
          </a:xfrm>
          <a:prstGeom prst="roundRect">
            <a:avLst>
              <a:gd name="adj" fmla="val 267907"/>
            </a:avLst>
          </a:prstGeom>
          <a:solidFill>
            <a:srgbClr val="003A53"/>
          </a:solidFill>
          <a:ln/>
        </p:spPr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80080D53-137F-B13A-CA07-27C151DF15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88" r="13186"/>
          <a:stretch>
            <a:fillRect/>
          </a:stretch>
        </p:blipFill>
        <p:spPr>
          <a:xfrm rot="247231">
            <a:off x="8878475" y="2395508"/>
            <a:ext cx="5610172" cy="467759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>
            <a:extLst>
              <a:ext uri="{FF2B5EF4-FFF2-40B4-BE49-F238E27FC236}">
                <a16:creationId xmlns:a16="http://schemas.microsoft.com/office/drawing/2014/main" id="{EB380713-A554-113E-CA96-8ADC5E5D5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16" name="Rectángulo 15">
            <a:extLst>
              <a:ext uri="{FF2B5EF4-FFF2-40B4-BE49-F238E27FC236}">
                <a16:creationId xmlns:a16="http://schemas.microsoft.com/office/drawing/2014/main" id="{B9718543-957D-F58F-4CDC-9ABE2305B602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4" name="Text 1"/>
          <p:cNvSpPr/>
          <p:nvPr/>
        </p:nvSpPr>
        <p:spPr>
          <a:xfrm>
            <a:off x="7817239" y="1436055"/>
            <a:ext cx="6173623" cy="1711642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Como dice el refrán: "Cría fama y échate a dormir". Atribuir a una persona una buena reputación, una cualidad positiva o una gran expectativa, la motivará a esforzarse por mantenerla y superarla. Es una poderosa forma de liderazgo por inspiración.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7735153" y="3372512"/>
            <a:ext cx="6475293" cy="2967276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Expectativas positivas: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Las personas tienden a cumplir con las expectativas que se tienen de </a:t>
            </a:r>
            <a:r>
              <a:rPr lang="en-US" sz="2200" dirty="0" err="1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ellas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.</a:t>
            </a:r>
          </a:p>
          <a:p>
            <a:pPr algn="l">
              <a:lnSpc>
                <a:spcPts val="2200"/>
              </a:lnSpc>
              <a:buSzPct val="100000"/>
            </a:pP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Refuerzo de identidad: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Al ver que se les atribuye una cualidad deseable, las personas internalizan esa imagen y actúan en </a:t>
            </a:r>
            <a:r>
              <a:rPr lang="en-US" sz="2200" dirty="0" err="1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consecuencia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.</a:t>
            </a:r>
          </a:p>
          <a:p>
            <a:pPr algn="l">
              <a:lnSpc>
                <a:spcPts val="2200"/>
              </a:lnSpc>
              <a:buSzPct val="100000"/>
            </a:pP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Inspiración para el éxito: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Esta técnica fomenta el auto-mejoramiento y el deseo de estar a la altura de esa buena reputación.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EBC3EC0-5467-55D2-4DFA-0BF99A7B2B4A}"/>
              </a:ext>
            </a:extLst>
          </p:cNvPr>
          <p:cNvSpPr txBox="1"/>
          <p:nvPr/>
        </p:nvSpPr>
        <p:spPr>
          <a:xfrm>
            <a:off x="3657600" y="438536"/>
            <a:ext cx="7315200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CRÍA FAMA Y ÉCHATE A DORMIR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ctángulo: esquinas superiores cortadas 12">
            <a:extLst>
              <a:ext uri="{FF2B5EF4-FFF2-40B4-BE49-F238E27FC236}">
                <a16:creationId xmlns:a16="http://schemas.microsoft.com/office/drawing/2014/main" id="{08416197-5710-6A77-D870-93DF41B7DE78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D98DD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65A0C4AC-613D-65D2-1C6C-FE70FE22E0C7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7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2461579" y="7284864"/>
            <a:ext cx="10783140" cy="719917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ATRIBUYA A LA OTRA PERSONA</a:t>
            </a:r>
          </a:p>
          <a:p>
            <a:pPr marL="0" indent="0" algn="ctr">
              <a:lnSpc>
                <a:spcPts val="22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UNA BUENA REPUTACIÓN PARA QUE SE</a:t>
            </a:r>
          </a:p>
          <a:p>
            <a:pPr marL="0" indent="0" algn="ctr">
              <a:lnSpc>
                <a:spcPts val="220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INTERESE EN MANTENERLA.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94907E6-16A2-C24F-DC93-668915114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38" y="1496344"/>
            <a:ext cx="5966906" cy="538438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Imagen 36">
            <a:extLst>
              <a:ext uri="{FF2B5EF4-FFF2-40B4-BE49-F238E27FC236}">
                <a16:creationId xmlns:a16="http://schemas.microsoft.com/office/drawing/2014/main" id="{1C4E6B89-F1AC-065A-5D0E-1407B0FEF1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034" b="21496"/>
          <a:stretch>
            <a:fillRect/>
          </a:stretch>
        </p:blipFill>
        <p:spPr>
          <a:xfrm>
            <a:off x="1" y="0"/>
            <a:ext cx="14630400" cy="8229598"/>
          </a:xfrm>
          <a:prstGeom prst="rect">
            <a:avLst/>
          </a:prstGeom>
        </p:spPr>
      </p:pic>
      <p:sp>
        <p:nvSpPr>
          <p:cNvPr id="24" name="Rectángulo 23">
            <a:extLst>
              <a:ext uri="{FF2B5EF4-FFF2-40B4-BE49-F238E27FC236}">
                <a16:creationId xmlns:a16="http://schemas.microsoft.com/office/drawing/2014/main" id="{770B895C-9604-AE2E-02D1-2319ED9559C4}"/>
              </a:ext>
            </a:extLst>
          </p:cNvPr>
          <p:cNvSpPr/>
          <p:nvPr/>
        </p:nvSpPr>
        <p:spPr>
          <a:xfrm>
            <a:off x="-38099" y="-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3" name="Text 1"/>
          <p:cNvSpPr/>
          <p:nvPr/>
        </p:nvSpPr>
        <p:spPr>
          <a:xfrm>
            <a:off x="793668" y="1986931"/>
            <a:ext cx="6493647" cy="4061311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Para motivar a alguien a mejorar, evite destruir su confianza señalando sus fallas como insuperables. En su lugar, presente los desafíos como obstáculos superables y resalte el potencial innato de la persona. "Diga a una persona que es estúpida o tonta en ciertas cosas... y habrá destruido todo incentivo para que trate de mejorar."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567113" y="6539441"/>
            <a:ext cx="2835235" cy="35433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MINIMICE EL ERROR</a:t>
            </a:r>
            <a:endParaRPr lang="en-US" sz="24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763377" y="6554146"/>
            <a:ext cx="2835235" cy="35433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RESALTE EL TALENTO</a:t>
            </a:r>
            <a:endParaRPr lang="en-US" sz="24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9959641" y="6612070"/>
            <a:ext cx="2835235" cy="35433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4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ALIENTE EL PROGRESO</a:t>
            </a:r>
            <a:endParaRPr lang="en-US" sz="24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4597916-E670-B427-729F-10443D87F3B9}"/>
              </a:ext>
            </a:extLst>
          </p:cNvPr>
          <p:cNvSpPr txBox="1"/>
          <p:nvPr/>
        </p:nvSpPr>
        <p:spPr>
          <a:xfrm>
            <a:off x="793789" y="582031"/>
            <a:ext cx="13042821" cy="61927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HAGA QUE LOS ERRORES PAREZCAN FÁCILES DE CORREGIR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Rectángulo: esquinas superiores cortadas 26">
            <a:extLst>
              <a:ext uri="{FF2B5EF4-FFF2-40B4-BE49-F238E27FC236}">
                <a16:creationId xmlns:a16="http://schemas.microsoft.com/office/drawing/2014/main" id="{10795FD0-2A70-C82C-2F2A-D6191B66CDEF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F0A5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7733EDED-400D-1F5A-599E-D64F05717E0C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8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3911476" y="7360792"/>
            <a:ext cx="8067199" cy="362903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ALIENTE A LA OTRA PERSONA. HAGA QUE</a:t>
            </a:r>
          </a:p>
          <a:p>
            <a:pPr marL="0" indent="0" algn="ctr">
              <a:lnSpc>
                <a:spcPts val="285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LOS ERRORES PAREZCAN FÁCILES DE CORREGIR.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39" name="Imagen 38">
            <a:extLst>
              <a:ext uri="{FF2B5EF4-FFF2-40B4-BE49-F238E27FC236}">
                <a16:creationId xmlns:a16="http://schemas.microsoft.com/office/drawing/2014/main" id="{E8B581F6-762E-112E-48CF-5450066356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75" b="4508"/>
          <a:stretch>
            <a:fillRect/>
          </a:stretch>
        </p:blipFill>
        <p:spPr>
          <a:xfrm rot="343673">
            <a:off x="8560247" y="1711865"/>
            <a:ext cx="5066120" cy="446414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0" name="Rectángulo 39">
            <a:extLst>
              <a:ext uri="{FF2B5EF4-FFF2-40B4-BE49-F238E27FC236}">
                <a16:creationId xmlns:a16="http://schemas.microsoft.com/office/drawing/2014/main" id="{A04FF466-1B77-0B8B-E323-DD1AAA68476F}"/>
              </a:ext>
            </a:extLst>
          </p:cNvPr>
          <p:cNvSpPr/>
          <p:nvPr/>
        </p:nvSpPr>
        <p:spPr>
          <a:xfrm>
            <a:off x="5002651" y="6481536"/>
            <a:ext cx="160422" cy="418149"/>
          </a:xfrm>
          <a:prstGeom prst="rect">
            <a:avLst/>
          </a:prstGeom>
          <a:solidFill>
            <a:srgbClr val="FFF3D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48982869-CAC7-0ADA-8CEF-CAAA2002130D}"/>
              </a:ext>
            </a:extLst>
          </p:cNvPr>
          <p:cNvSpPr/>
          <p:nvPr/>
        </p:nvSpPr>
        <p:spPr>
          <a:xfrm>
            <a:off x="9198915" y="6474567"/>
            <a:ext cx="160422" cy="418149"/>
          </a:xfrm>
          <a:prstGeom prst="rect">
            <a:avLst/>
          </a:prstGeom>
          <a:solidFill>
            <a:srgbClr val="FFF3D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0982EB58-D387-4ED2-036F-EF1AED3CE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084" r="11038" b="15252"/>
          <a:stretch>
            <a:fillRect/>
          </a:stretch>
        </p:blipFill>
        <p:spPr>
          <a:xfrm>
            <a:off x="40127" y="-31860"/>
            <a:ext cx="14590273" cy="8261460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0E0F3F08-E24D-CE3C-261F-11807CD17503}"/>
              </a:ext>
            </a:extLst>
          </p:cNvPr>
          <p:cNvSpPr/>
          <p:nvPr/>
        </p:nvSpPr>
        <p:spPr>
          <a:xfrm>
            <a:off x="-36073" y="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4" name="Text 1"/>
          <p:cNvSpPr/>
          <p:nvPr/>
        </p:nvSpPr>
        <p:spPr>
          <a:xfrm>
            <a:off x="5911548" y="2140367"/>
            <a:ext cx="8108927" cy="1428750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El coronel Edward M. House, emisario de Woodrow Wilson en 1915, demostró este principio al hacer que Bryan se sintiera satisfecho a pesar de su decepción inicial. Al presentar las sugerencias de manera que beneficien a la otra persona y resalten su importancia, se facilita la colaboración y el compromiso.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8220745" y="3899624"/>
            <a:ext cx="4817479" cy="318849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Inconsolata Bold" pitchFamily="34" charset="-120"/>
              </a:rPr>
              <a:t>PRINCIPIOS CLAVE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118358" y="4403500"/>
            <a:ext cx="8108927" cy="255984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Ser sincero: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Prometa solo lo que pueda cumplir, construya relaciones basadas en la honestidad.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Definir objetivos claros: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Sepa qué necesita de la otra persona y comuníquelo eficazmente.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Empatía: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Comprenda los deseos y necesidades de la otra persona para poder conectar con ellos.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Beneficios claros: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Muestre cómo la acción sugerida beneficia directamente a la otra persona.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  <a:p>
            <a:pPr marL="342900" indent="-342900" algn="l">
              <a:lnSpc>
                <a:spcPts val="1850"/>
              </a:lnSpc>
              <a:buSzPct val="100000"/>
              <a:buChar char="•"/>
            </a:pPr>
            <a:r>
              <a:rPr lang="en-US" sz="2200" b="1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Solicitudes positivas:</a:t>
            </a:r>
            <a:r>
              <a:rPr lang="en-US" sz="2200" dirty="0">
                <a:solidFill>
                  <a:schemeClr val="bg1"/>
                </a:solidFill>
                <a:latin typeface="Inconsolata Bold" pitchFamily="1" charset="0"/>
                <a:ea typeface="Inconsolata Bold" pitchFamily="1" charset="0"/>
                <a:cs typeface="Fira Sans" pitchFamily="34" charset="-120"/>
              </a:rPr>
              <a:t> Realice peticiones que resalten los aspectos positivos y las recompensas.</a:t>
            </a:r>
            <a:endParaRPr lang="en-US" sz="2200" dirty="0">
              <a:solidFill>
                <a:schemeClr val="bg1"/>
              </a:solidFill>
              <a:latin typeface="Inconsolata Bold" pitchFamily="1" charset="0"/>
              <a:ea typeface="Inconsolata Bold" pitchFamily="1" charset="0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E5C7AA0-0A6A-C1DE-D074-3F2E4CCE9E73}"/>
              </a:ext>
            </a:extLst>
          </p:cNvPr>
          <p:cNvSpPr txBox="1"/>
          <p:nvPr/>
        </p:nvSpPr>
        <p:spPr>
          <a:xfrm>
            <a:off x="1447800" y="510166"/>
            <a:ext cx="11239500" cy="1185581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PROCURE QUE LA OTRA PERSONA SE SIENTA SATISFECHA DE HACER</a:t>
            </a:r>
            <a:r>
              <a:rPr lang="es-BO" sz="3200" kern="100" dirty="0">
                <a:solidFill>
                  <a:schemeClr val="bg1"/>
                </a:solidFill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s-BO" sz="3200" b="1" kern="100" dirty="0">
                <a:solidFill>
                  <a:schemeClr val="bg1"/>
                </a:solidFill>
                <a:effectLst/>
                <a:latin typeface="Eras Bold ITC" panose="020B0907030504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 QUE USTED QUIERE</a:t>
            </a:r>
            <a:endParaRPr lang="es-BO" sz="3200" kern="100" dirty="0">
              <a:solidFill>
                <a:schemeClr val="bg1"/>
              </a:solidFill>
              <a:effectLst/>
              <a:latin typeface="Eras Bold ITC" panose="020B0907030504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Rectángulo: esquinas superiores cortadas 15">
            <a:extLst>
              <a:ext uri="{FF2B5EF4-FFF2-40B4-BE49-F238E27FC236}">
                <a16:creationId xmlns:a16="http://schemas.microsoft.com/office/drawing/2014/main" id="{F9023C75-DC52-7111-DF07-B3B58ED420BA}"/>
              </a:ext>
            </a:extLst>
          </p:cNvPr>
          <p:cNvSpPr/>
          <p:nvPr/>
        </p:nvSpPr>
        <p:spPr>
          <a:xfrm>
            <a:off x="1695450" y="7060049"/>
            <a:ext cx="11239500" cy="1169549"/>
          </a:xfrm>
          <a:prstGeom prst="snip2SameRect">
            <a:avLst>
              <a:gd name="adj1" fmla="val 34584"/>
              <a:gd name="adj2" fmla="val 0"/>
            </a:avLst>
          </a:prstGeom>
          <a:solidFill>
            <a:srgbClr val="C37E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/>
          </a:p>
        </p:txBody>
      </p:sp>
      <p:sp>
        <p:nvSpPr>
          <p:cNvPr id="17" name="Text 9">
            <a:extLst>
              <a:ext uri="{FF2B5EF4-FFF2-40B4-BE49-F238E27FC236}">
                <a16:creationId xmlns:a16="http://schemas.microsoft.com/office/drawing/2014/main" id="{2E099947-1D66-23AE-F793-857FAA4A0D8C}"/>
              </a:ext>
            </a:extLst>
          </p:cNvPr>
          <p:cNvSpPr/>
          <p:nvPr/>
        </p:nvSpPr>
        <p:spPr>
          <a:xfrm>
            <a:off x="2005219" y="7360792"/>
            <a:ext cx="1501321" cy="290274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28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REGLA 9</a:t>
            </a:r>
            <a:endParaRPr lang="en-US" sz="28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93390" y="7584877"/>
            <a:ext cx="6254710" cy="238125"/>
          </a:xfrm>
          <a:prstGeom prst="rect">
            <a:avLst/>
          </a:prstGeom>
          <a:noFill/>
          <a:ln/>
          <a:effectLst>
            <a:outerShdw blurRad="50800" dist="50800" dir="5400000" algn="ctr" rotWithShape="0">
              <a:schemeClr val="tx1"/>
            </a:outerShdw>
          </a:effectLst>
        </p:spPr>
        <p:txBody>
          <a:bodyPr wrap="none" lIns="0" tIns="0" rIns="0" bIns="0" rtlCol="0" anchor="t"/>
          <a:lstStyle/>
          <a:p>
            <a:pPr marL="0" indent="0" algn="ctr">
              <a:lnSpc>
                <a:spcPts val="185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PROCURE QUE LA OTRA PERSONA SE SIENTA</a:t>
            </a:r>
          </a:p>
          <a:p>
            <a:pPr marL="0" indent="0" algn="ctr">
              <a:lnSpc>
                <a:spcPts val="1850"/>
              </a:lnSpc>
              <a:buNone/>
            </a:pPr>
            <a:r>
              <a:rPr lang="en-US" sz="2600" dirty="0">
                <a:solidFill>
                  <a:schemeClr val="bg1"/>
                </a:solidFill>
                <a:latin typeface="Copperplate Gothic Bold" panose="020E0705020206020404" pitchFamily="34" charset="0"/>
                <a:ea typeface="Fira Sans" pitchFamily="34" charset="-122"/>
                <a:cs typeface="Fira Sans" pitchFamily="34" charset="-120"/>
              </a:rPr>
              <a:t>SATISFECHA DE HACER LO QUE USTED SUGIERE.</a:t>
            </a:r>
            <a:endParaRPr lang="en-US" sz="2600" dirty="0">
              <a:solidFill>
                <a:schemeClr val="bg1"/>
              </a:solidFill>
              <a:latin typeface="Copperplate Gothic Bold" panose="020E0705020206020404" pitchFamily="34" charset="0"/>
            </a:endParaRP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1D60F1BE-7A31-4DA1-2833-3B4592CC43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378" t="10917" r="11620" b="7834"/>
          <a:stretch>
            <a:fillRect/>
          </a:stretch>
        </p:blipFill>
        <p:spPr>
          <a:xfrm rot="21154378">
            <a:off x="707785" y="2035113"/>
            <a:ext cx="4702284" cy="50269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24A9E83-D117-D18B-F0ED-2E131C6617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15" b="11111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56A6AFEC-6E4E-D2D4-830D-80E5FD8F0DA3}"/>
              </a:ext>
            </a:extLst>
          </p:cNvPr>
          <p:cNvSpPr/>
          <p:nvPr/>
        </p:nvSpPr>
        <p:spPr>
          <a:xfrm>
            <a:off x="-36073" y="1"/>
            <a:ext cx="14706600" cy="82295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BO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A4A138C-7D9B-3106-631A-03B05CFF10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061"/>
          <a:stretch>
            <a:fillRect/>
          </a:stretch>
        </p:blipFill>
        <p:spPr>
          <a:xfrm rot="660029">
            <a:off x="6753726" y="1820777"/>
            <a:ext cx="6941037" cy="542223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850CDFF6-AA84-C2E5-B160-A875D1F70D63}"/>
              </a:ext>
            </a:extLst>
          </p:cNvPr>
          <p:cNvSpPr txBox="1"/>
          <p:nvPr/>
        </p:nvSpPr>
        <p:spPr>
          <a:xfrm>
            <a:off x="-411263" y="1898169"/>
            <a:ext cx="7443536" cy="3785652"/>
          </a:xfrm>
          <a:prstGeom prst="rect">
            <a:avLst/>
          </a:prstGeom>
          <a:noFill/>
          <a:effectLst>
            <a:outerShdw blurRad="50800" dist="50800" dir="5400000" algn="ctr" rotWithShape="0">
              <a:schemeClr val="tx1"/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s-BO" sz="8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oper Black" panose="0208090404030B020404" pitchFamily="18" charset="0"/>
              </a:rPr>
              <a:t>GRACIAS POR SU ATENCIÓN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756F1C98-DB4F-5A62-E236-07AA389D1B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762" t="30605" r="12664"/>
          <a:stretch>
            <a:fillRect/>
          </a:stretch>
        </p:blipFill>
        <p:spPr>
          <a:xfrm>
            <a:off x="-40127" y="6613686"/>
            <a:ext cx="1941197" cy="16492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181068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698</TotalTime>
  <Words>1305</Words>
  <Application>Microsoft Office PowerPoint</Application>
  <PresentationFormat>Personalizado</PresentationFormat>
  <Paragraphs>104</Paragraphs>
  <Slides>11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8" baseType="lpstr">
      <vt:lpstr>Cooper Black</vt:lpstr>
      <vt:lpstr>Fira Sans</vt:lpstr>
      <vt:lpstr>Copperplate Gothic Bold</vt:lpstr>
      <vt:lpstr>Eras Bold ITC</vt:lpstr>
      <vt:lpstr>Inconsolata Bold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Montellanos</dc:creator>
  <cp:lastModifiedBy>Alison Montellanos</cp:lastModifiedBy>
  <cp:revision>2</cp:revision>
  <dcterms:created xsi:type="dcterms:W3CDTF">2026-02-25T20:57:21Z</dcterms:created>
  <dcterms:modified xsi:type="dcterms:W3CDTF">2026-06-02T09:09:09Z</dcterms:modified>
</cp:coreProperties>
</file>